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EEF8"/>
                </a:solidFill>
              </a:rPr>
              <a:t>Classification 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AA00"/>
                </a:solidFill>
              </a:rPr>
              <a:t>Score de Crédit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BBB"/>
                </a:solidFill>
              </a:rPr>
              <a:t>Forage de données · Machine Learning · Déploiement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86200"/>
            <a:ext cx="5029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EF8"/>
                </a:solidFill>
              </a:rPr>
              <a:t>8INF436 — Forage de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B"/>
                </a:solidFill>
              </a:rPr>
              <a:t>Frantxa Cabrejos  ·  Loup-Djabril Le Bivic  ·  Nathan Razafindratsima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UQAC  —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Comment évaluer le risque de crédit de 100 000 clients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Le problème que résout ce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2031492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74552" cy="22860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Un agent humain met ~15 min par dossier.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AA00"/>
                </a:solidFill>
              </a:rPr>
              <a:t>Soit 25 000 heures pour traiter la base entière.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AA"/>
                </a:solidFill>
              </a:rPr>
              <a:t>Notre modèle prédit les 100 000 scores en quelques secondes.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356616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965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82E"/>
                </a:solidFill>
              </a:rPr>
              <a:t>GOOD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D182E"/>
                </a:solidFill>
              </a:rPr>
              <a:t>Client fiable · faible risque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1104" y="4069080"/>
            <a:ext cx="356616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40965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82E"/>
                </a:solidFill>
              </a:rPr>
              <a:t>STANDARD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44805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D182E"/>
                </a:solidFill>
              </a:rPr>
              <a:t>Profil à surveiller · risque moyen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4069080"/>
            <a:ext cx="356616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40965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82E"/>
                </a:solidFill>
              </a:rPr>
              <a:t>POOR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4805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D182E"/>
                </a:solidFill>
              </a:rPr>
              <a:t>Risque élevé · crédit déconseillé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EEF8"/>
                </a:solidFill>
              </a:rPr>
              <a:t>→ Classification automatique multi-classes par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Un dataset de 100 000 clients bancaires réels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Source : Kaggle Credit Score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3047238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2468880" cy="100584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137160" cy="100584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1848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A00"/>
                </a:solidFill>
              </a:rPr>
              <a:t>100 000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21488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508760"/>
            <a:ext cx="2468880" cy="100584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1508760"/>
            <a:ext cx="137160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61848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AA"/>
                </a:solidFill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011680"/>
            <a:ext cx="21488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variables (features)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508760"/>
            <a:ext cx="2468880" cy="100584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1508760"/>
            <a:ext cx="13716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61848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011680"/>
            <a:ext cx="2148840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classes cibles</a:t>
            </a:r>
          </a:p>
        </p:txBody>
      </p:sp>
      <p:pic>
        <p:nvPicPr>
          <p:cNvPr id="21" name="Picture 20" descr="img_01_cell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33472"/>
            <a:ext cx="1152144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Des données volontairement bruitées — à nettoyer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Exploration de la qualité avant traitement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4062984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4 / 12</a:t>
            </a:r>
          </a:p>
        </p:txBody>
      </p:sp>
      <p:pic>
        <p:nvPicPr>
          <p:cNvPr id="9" name="Picture 8" descr="img_00_cel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7772400" cy="3383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21040" y="1508760"/>
            <a:ext cx="3657600" cy="11430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128016" cy="114300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5819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A00"/>
                </a:solidFill>
              </a:rPr>
              <a:t>Données corrompues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94767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8"/>
                </a:solidFill>
              </a:rPr>
              <a:t>Âges négatifs (−500), revenus avec '_', caractères spéciaux dans les champs texte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743200"/>
            <a:ext cx="3657600" cy="11430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743200"/>
            <a:ext cx="128016" cy="114300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8163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A00"/>
                </a:solidFill>
              </a:rPr>
              <a:t>Nettoyage Regex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18211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8"/>
                </a:solidFill>
              </a:rPr>
              <a:t>Expression régulière [^0-9.-] → supprime tout sauf chiffres et décimaux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977639"/>
            <a:ext cx="3657600" cy="11430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3977639"/>
            <a:ext cx="128016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0507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Aucune colonne supprimée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416552"/>
            <a:ext cx="3291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8"/>
                </a:solidFill>
              </a:rPr>
              <a:t>Max 15% de manquants · sous le seuil de 60% → toutes les variables conservées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0292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Après nettoyage : données prêtes pour le prétraitement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Le pipeline complet : du brut au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Chaque étape est sauvegardée (.pkl) pour le déploiement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5078730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1783080" cy="347472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600200"/>
            <a:ext cx="1783080" cy="566928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184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82E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240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A00"/>
                </a:solidFill>
              </a:rPr>
              <a:t>Encodage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724912"/>
            <a:ext cx="16367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LabelEncoder
5 variables
catégorielles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743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BB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1600200"/>
            <a:ext cx="1783080" cy="347472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04288" y="1600200"/>
            <a:ext cx="1783080" cy="5669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16184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82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240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</a:rPr>
              <a:t>Imputation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724912"/>
            <a:ext cx="16367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Médiane
→ 0 valeur
manquante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743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BBB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8536" y="1600200"/>
            <a:ext cx="1783080" cy="347472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8536" y="1600200"/>
            <a:ext cx="1783080" cy="56692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8536" y="16184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82E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5" y="2240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FBF"/>
                </a:solidFill>
              </a:rPr>
              <a:t>Normalisation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724912"/>
            <a:ext cx="16367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MinMaxScaler
[0, 1]
pour le SVM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2743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BB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3" y="1600200"/>
            <a:ext cx="1783080" cy="347472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3" y="1600200"/>
            <a:ext cx="178308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3" y="16184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82E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3" y="2240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Split 80/20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724912"/>
            <a:ext cx="16367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Stratifié
proportions
conservées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5863" y="2743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BBB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57031" y="1600200"/>
            <a:ext cx="1783080" cy="347472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7031" y="1600200"/>
            <a:ext cx="1783080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16184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82E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2240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SMOTE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3" y="2724912"/>
            <a:ext cx="16367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80K → 127K
3 classes
balancées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1" y="274320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9BBB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1600200"/>
            <a:ext cx="1783080" cy="347472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41280" y="1600200"/>
            <a:ext cx="1783080" cy="56692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161848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82E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19" y="2240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B47BC"/>
                </a:solidFill>
              </a:rPr>
              <a:t>Réduction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4432" y="2724912"/>
            <a:ext cx="16367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Feature sel.
ou PCA
selon modèle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52578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BB"/>
                </a:solidFill>
              </a:rPr>
              <a:t>Pipeline complet enregistré avec pickle → utilisé directement dans l'application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SMOTE : on a généré 47 617 exemples synthétiques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Sans équilibrage, le modèle ignorerait la classe minoritaire 'Good'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6094476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6 / 12</a:t>
            </a:r>
          </a:p>
        </p:txBody>
      </p:sp>
      <p:pic>
        <p:nvPicPr>
          <p:cNvPr id="9" name="Picture 8" descr="img_02_cell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7772400" cy="39319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21040" y="1508760"/>
            <a:ext cx="3566160" cy="10972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13716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18488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67E22"/>
                </a:solidFill>
              </a:rPr>
              <a:t>80 000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57400"/>
            <a:ext cx="3246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exemples avant SMOTE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697480"/>
            <a:ext cx="3566160" cy="10972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697480"/>
            <a:ext cx="13716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807208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127 617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246120"/>
            <a:ext cx="3246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EEF8"/>
                </a:solidFill>
              </a:rPr>
              <a:t>exemples après SMOTE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886200"/>
            <a:ext cx="3566160" cy="15544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3886200"/>
            <a:ext cx="128016" cy="1554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950208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Pourquoi uniquement sur le train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370832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EEF8"/>
                </a:solidFill>
              </a:rPr>
              <a:t>Appliquer SMOTE sur le test
fausserait l'évaluation réelle.
On simule des données nouvelles
seulement pour l'entraînement.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Moins de dimensions, même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Deux stratégies selon le modèle utilisé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7110222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5577840" cy="51663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5577840" cy="45720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361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82E"/>
                </a:solidFill>
              </a:rPr>
              <a:t>SÉLECTION DE VARIABLES</a:t>
            </a:r>
          </a:p>
        </p:txBody>
      </p:sp>
      <p:pic>
        <p:nvPicPr>
          <p:cNvPr id="12" name="Picture 11" descr="img_03_cell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29968"/>
            <a:ext cx="5486400" cy="24688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2920" y="4663440"/>
            <a:ext cx="91440" cy="9144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5720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Importances via Forêt Aléatoire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029200"/>
            <a:ext cx="91440" cy="9144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937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22 variables → 8 retenues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94960"/>
            <a:ext cx="91440" cy="9144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5303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Utilisé : RF + Gradient Boosting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508760"/>
            <a:ext cx="5577840" cy="51663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508760"/>
            <a:ext cx="557784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361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82E"/>
                </a:solidFill>
              </a:rPr>
              <a:t>ACP (PCA)</a:t>
            </a:r>
          </a:p>
        </p:txBody>
      </p:sp>
      <p:pic>
        <p:nvPicPr>
          <p:cNvPr id="22" name="Picture 21" descr="img_05_cell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29968"/>
            <a:ext cx="5486400" cy="24688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446520" y="466344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7688" y="45720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95% de variance → 20 composantes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502920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937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22 dimensions réduites à 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5394960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3035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Utilisé : SVM (LinearSVC)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Trois approches complémentaires testées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Chaque modèle a ses forces selon les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8125968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3657600" cy="51663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3657600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5361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82E"/>
                </a:solidFill>
              </a:rPr>
              <a:t>Forêt Aléatoire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1762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2ECC71"/>
                </a:solidFill>
              </a:rPr>
              <a:t>Ensemble de 100 arbres
de décision indépendants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063240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97180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Chaque arbre vote → classe majoritaire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502152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41071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Robuste sans normalisation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" y="3941063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8496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8 features sélectionnées en entrée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4379975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28853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100 arbres · random_state=42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1508760"/>
            <a:ext cx="3657600" cy="51663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1508760"/>
            <a:ext cx="365760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15361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82E"/>
                </a:solidFill>
              </a:rPr>
              <a:t>SVM — LinearSVC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21762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E67E22"/>
                </a:solidFill>
              </a:rPr>
              <a:t>Séparateur à vaste marge
dans l'espace des PCA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063240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97180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Choix linéaire : O(n) vs O(n³) pour RBF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3502152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41071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20 composantes PCA en entrée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3941063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8496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C=1.0 · max_iter=2000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4379975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428853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Calibré pour probabilités (cv=3)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1508760"/>
            <a:ext cx="3657600" cy="51663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1508760"/>
            <a:ext cx="3657600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15361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82E"/>
                </a:solidFill>
              </a:rPr>
              <a:t>Gradient Boosting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21762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276FBF"/>
                </a:solidFill>
              </a:rPr>
              <a:t>Arbres séquentiels :
chacun corrige le précédent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39912" y="3063240"/>
            <a:ext cx="91440" cy="91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297180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Learning rate=0.1 (conservateur)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9912" y="3502152"/>
            <a:ext cx="91440" cy="91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341071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Profondeur max=3 (stabilité)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39912" y="3941063"/>
            <a:ext cx="91440" cy="91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22792" y="38496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100 itérations d'apprentissage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39912" y="4379975"/>
            <a:ext cx="91440" cy="91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22792" y="4288536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8 features sélectionnées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La Forêt Aléatoire remporte la comparaison — F1 = 76.6%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Évaluation sur 20 000 exemples de test non vus pendant l'entraînement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1714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9 / 12</a:t>
            </a:r>
          </a:p>
        </p:txBody>
      </p:sp>
      <p:pic>
        <p:nvPicPr>
          <p:cNvPr id="9" name="Picture 8" descr="img_06_cell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7315200" cy="4434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863840" y="1508760"/>
            <a:ext cx="4114800" cy="502920"/>
          </a:xfrm>
          <a:prstGeom prst="rect">
            <a:avLst/>
          </a:prstGeom>
          <a:solidFill>
            <a:srgbClr val="1C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A00"/>
                </a:solidFill>
              </a:rPr>
              <a:t>Modèle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55448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A00"/>
                </a:solidFill>
              </a:rPr>
              <a:t>Acc.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155448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A00"/>
                </a:solidFill>
              </a:rP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103120"/>
            <a:ext cx="4114800" cy="685800"/>
          </a:xfrm>
          <a:prstGeom prst="rect">
            <a:avLst/>
          </a:prstGeom>
          <a:solidFill>
            <a:srgbClr val="1A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2103120"/>
            <a:ext cx="18288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225856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Forêt Aléatoire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25856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76.6%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25856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76.6%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606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A00"/>
                </a:solidFill>
              </a:rPr>
              <a:t>★ MEILLEUR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852927"/>
            <a:ext cx="4114800" cy="6858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2852927"/>
            <a:ext cx="18288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3008375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Gradient Boosting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08375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68.5%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3008375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7E22"/>
                </a:solidFill>
              </a:rPr>
              <a:t>68.7%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3602735"/>
            <a:ext cx="4114800" cy="6858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602735"/>
            <a:ext cx="18288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3758183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EF8"/>
                </a:solidFill>
              </a:rPr>
              <a:t>SVM LinearSVC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758183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</a:rPr>
              <a:t>53.2%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3758183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</a:rPr>
              <a:t>52.9%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4416552"/>
            <a:ext cx="4114800" cy="15087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4416552"/>
            <a:ext cx="128016" cy="15087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448056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Validation croisée (k=5)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919472"/>
            <a:ext cx="3794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RF : F1 = 82.4% ± 0.003
GB : F1 = 75.8% ± 0.002
SVM : F1 = 60.0% ± 0.002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La Forêt Aléatoire fait le moins d'erreurs croisées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Lecture : diagonale = bonnes prédictions · hors-diagonale = erreurs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0157460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10 / 12</a:t>
            </a:r>
          </a:p>
        </p:txBody>
      </p:sp>
      <p:pic>
        <p:nvPicPr>
          <p:cNvPr id="9" name="Picture 8" descr="img_07_cell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1152144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5897880"/>
            <a:ext cx="11521440" cy="6858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96188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8EEF8"/>
                </a:solidFill>
              </a:rPr>
              <a:t>RF classe correctement 8 213 'Standard', 4 528 'Poor' et 2 577 'Good' · Le SVM confond davantage de classes → moins fiable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57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Une application web pour utiliser les modèles en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A00"/>
                </a:solidFill>
              </a:rPr>
              <a:t>Déploiement Streamlit — 3 onglets fonctionnels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1173206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3657600" cy="51663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365760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527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82E"/>
                </a:solidFill>
              </a:rPr>
              <a:t>Onglet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737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82E"/>
                </a:solidFill>
              </a:rPr>
              <a:t>Saisie manuelle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2212848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1214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Entrer les infos d'un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2670048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5786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3 modèles prédisent en temps réel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" y="3127248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0358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Vote majoritaire → décision finale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3584448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4930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Code couleur : vert / orange / rouge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1508760"/>
            <a:ext cx="3657600" cy="51663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1508760"/>
            <a:ext cx="3657600" cy="50292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1527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82E"/>
                </a:solidFill>
              </a:rPr>
              <a:t>Onglet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1737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82E"/>
                </a:solidFill>
              </a:rPr>
              <a:t>Import CSV en masse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2212848"/>
            <a:ext cx="91440" cy="9144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1214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Importer un fichier multi-clients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2670048"/>
            <a:ext cx="91440" cy="9144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5786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Prédictions automatiques en batch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3127248"/>
            <a:ext cx="91440" cy="9144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0358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Export CSV des résultats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3584448"/>
            <a:ext cx="91440" cy="9144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4930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Idéal pour traitement industriel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1508760"/>
            <a:ext cx="3657600" cy="516636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1508760"/>
            <a:ext cx="365760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1527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82E"/>
                </a:solidFill>
              </a:rPr>
              <a:t>Onglet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1737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82E"/>
                </a:solidFill>
              </a:rPr>
              <a:t>Tableau de bord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39912" y="2212848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22792" y="21214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Accuracy · Précision · Rappel · 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9912" y="2670048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25786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Graphique comparatif interactif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39912" y="3127248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22792" y="30358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Identification du meilleur modèle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39912" y="3584448"/>
            <a:ext cx="9144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22792" y="34930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Métriques chargées depuis le CSV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623560"/>
            <a:ext cx="11548872" cy="50292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623560"/>
            <a:ext cx="182880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E8EEF8"/>
                </a:solidFill>
              </a:rPr>
              <a:t>Modèles chargés via pickle · pipeline identique à l'entraînement · zéro ré-entraînement nécessaire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66751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BBB"/>
                </a:solidFill>
              </a:rP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035040"/>
            <a:ext cx="11823192" cy="640080"/>
          </a:xfrm>
          <a:prstGeom prst="rect">
            <a:avLst/>
          </a:prstGeom>
          <a:solidFill>
            <a:srgbClr val="16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Ce qu'on retient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AA00"/>
                </a:solidFill>
              </a:rPr>
              <a:t>Conclusion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63040"/>
            <a:ext cx="5029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solidFill>
            <a:srgbClr val="F5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190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82E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099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A00"/>
                </a:solidFill>
              </a:rPr>
              <a:t>Pipeline complet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3055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Nettoyage → encodage → normalisation → SMOTE → réduction → modèle → déploiement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697480"/>
            <a:ext cx="4572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2491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82E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15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Forêt Aléatoire = meilleur modèle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363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F1 pondéré de 76.6% sur test · 82.4% en validation croisée (k=5)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07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82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216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SMOTE a été déterminant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42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Sans lui, les classes minoritaires auraient été ignorées par les algorithmes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709160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73659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82E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274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Application prête à l'emploi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4807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8EEF8"/>
                </a:solidFill>
              </a:rPr>
              <a:t>Streamlit déployable · prédictions individuelles et en masse · interface intuitive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062472"/>
            <a:ext cx="1182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A00"/>
                </a:solidFill>
              </a:rPr>
              <a:t>Merci pour votre attention  ·  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