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80160"/>
            <a:ext cx="11247120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Classification du Score de Crédit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0A500"/>
                </a:solidFill>
              </a:rPr>
              <a:t>Forage de données appliqué au domaine bancaire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66160"/>
            <a:ext cx="11247120" cy="36576"/>
          </a:xfrm>
          <a:prstGeom prst="rect">
            <a:avLst/>
          </a:prstGeom>
          <a:solidFill>
            <a:srgbClr val="3A4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7490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4"/>
                </a:solidFill>
              </a:rPr>
              <a:t>8INF436 – Forage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06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Frantxa Cabrejos  •  Loup-Djabril Le Bivic  •  Nathan Razafindratsima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A"/>
                </a:solidFill>
              </a:rPr>
              <a:t>Université du Québec à Chicoutimi  —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394960" cy="47548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488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Les banques accordent des crédits à des milliers de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0048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Évaluer le risque financier est une étape critique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9816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0083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Un mauvais score peut mener à des pertes importantes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29584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4381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L'humain seul ne peut traiter 100 000 dossiers efficacement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59351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6791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Le machine learning automatise et fiabilise ce processus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508760"/>
            <a:ext cx="5394960" cy="47548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508760"/>
            <a:ext cx="53949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OBJECTIF DU PROJET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148840"/>
            <a:ext cx="12801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945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194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C45"/>
                </a:solidFill>
              </a:rPr>
              <a:t>Faible risque · Client fiable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383280"/>
            <a:ext cx="128016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4290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429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C45"/>
                </a:solidFill>
              </a:rPr>
              <a:t>Risque modéré · Surveillance recommandée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617720"/>
            <a:ext cx="128016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63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663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C45"/>
                </a:solidFill>
              </a:rPr>
              <a:t>Risque élevé · Crédit risqué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12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→ Prédire automatiquement la classe de crédit d'un client bancaire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 Jeu de Données</a:t>
            </a:r>
          </a:p>
        </p:txBody>
      </p:sp>
      <p:pic>
        <p:nvPicPr>
          <p:cNvPr id="5" name="Picture 4" descr="img_01_cell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17320"/>
            <a:ext cx="9966960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8A"/>
                </a:solidFill>
              </a:rPr>
              <a:t>Distribution des classes : Standard 53.2% · Poor 29.0% · Good 17.8%  —  Déséquilibre de classes ~3x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22860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500"/>
                </a:solidFill>
              </a:rPr>
              <a:t>100 000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observations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444752"/>
            <a:ext cx="22860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4630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500"/>
                </a:solidFill>
              </a:rPr>
              <a:t>28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features (numériques + catégorielles)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444752"/>
            <a:ext cx="2286000" cy="7498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4630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500"/>
                </a:solidFill>
              </a:rPr>
              <a:t>3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Good · Poor · Standard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Qualité &amp; Nettoyage des Données</a:t>
            </a:r>
          </a:p>
        </p:txBody>
      </p:sp>
      <p:pic>
        <p:nvPicPr>
          <p:cNvPr id="5" name="Picture 4" descr="img_00_cel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1106424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8A"/>
                </a:solidFill>
              </a:rPr>
              <a:t>Aucune colonne ne dépasse 60% de valeurs manquantes → toutes les colonnes sont conservées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63624"/>
            <a:ext cx="109728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Données volontairement bruitées (valeurs aberrantes, caractères parasites, types mixtes)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109728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Regex appliqué pour nettoyer les champs numériques corrompus (âge négatif, revenus avec '_')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68296"/>
            <a:ext cx="109728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Valeurs aberrantes supprimées (âge &lt; 18 ou &gt; 100, revenus négatifs)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Prétraitement des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54480"/>
            <a:ext cx="5486400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50292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5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39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Encodage catégoriel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4709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LabelEncoder sur 5 variables catégorielles (profession, type de prêt, comportement de paiement…)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486400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0292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50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691639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Imputation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94560"/>
            <a:ext cx="4709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Remplacement des valeurs manquantes par la médiane — robuste aux valeurs extrêmes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31920"/>
            <a:ext cx="5486400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931920"/>
            <a:ext cx="50292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480559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500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Normalisation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4709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MinMaxScaler → toutes les valeurs ramenées entre 0 et 1, indispensable pour le SVM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5486400" cy="21031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931920"/>
            <a:ext cx="50292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480559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A500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0690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Découpage stratifié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572000"/>
            <a:ext cx="4709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80% entraînement / 20% test — la proportion de chaque classe est preservée dans les deux ensembles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Équilibrage des Classes — SMOTE</a:t>
            </a:r>
          </a:p>
        </p:txBody>
      </p:sp>
      <p:pic>
        <p:nvPicPr>
          <p:cNvPr id="5" name="Picture 4" descr="img_02_cell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1069848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8A"/>
                </a:solidFill>
              </a:rPr>
              <a:t>SMOTE (Synthetic Minority Over-sampling Technique) — génère des exemples synthétiques dans l'espace des features pour équilibrer les classes d'entraînement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</a:rPr>
              <a:t>Problème : la classe 'Standard' est 3× plus représentée que 'Good' → le modèle ignorerait les minorités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C45"/>
                </a:solidFill>
              </a:rPr>
              <a:t>Solution : SMOTE appliqué uniquement sur l'ensemble d'entraînement (80 000 → 127 617 exemples)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Réduction de Dimensionnalité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5577840" cy="5166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904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0A500"/>
                </a:solidFill>
              </a:rPr>
              <a:t>Sélection de variables</a:t>
            </a:r>
          </a:p>
        </p:txBody>
      </p:sp>
      <p:pic>
        <p:nvPicPr>
          <p:cNvPr id="8" name="Picture 7" descr="img_03_cell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57400"/>
            <a:ext cx="5486400" cy="2560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800600"/>
            <a:ext cx="82296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Importances issues de la Forêt Aléatoire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166360"/>
            <a:ext cx="82296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Top 8 features retenues sur 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32120"/>
            <a:ext cx="82296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→ Outstanding Debt, Interest Rate, Delay…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97880"/>
            <a:ext cx="82296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Utilisé pour : RF et Gradient Boosting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5577840" cy="5166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557784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904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0A500"/>
                </a:solidFill>
              </a:rPr>
              <a:t>ACP (PCA)</a:t>
            </a:r>
          </a:p>
        </p:txBody>
      </p:sp>
      <p:pic>
        <p:nvPicPr>
          <p:cNvPr id="20" name="Picture 19" descr="img_05_cell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57400"/>
            <a:ext cx="5486400" cy="25603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492240" y="4800600"/>
            <a:ext cx="82296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709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StandardScaler requis avant PCA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166360"/>
            <a:ext cx="82296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074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Critère : 95% de variance expliquée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532120"/>
            <a:ext cx="82296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440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→ 22 dimensions → 20 composantes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897880"/>
            <a:ext cx="82296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806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Utilisé pour : SVM (LinéaireSVC)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Les Modèles de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36576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Forêt Aléatoire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3657600" cy="4617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219456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Ensemble de 100 arbres de décision indépendants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2624327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32887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Chaque arbre vote → classe majoritaire retenue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3054095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62655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Naturellement robuste au surapprentissage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" y="3483863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92423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Utilise les 8 features sélectionnées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463040"/>
            <a:ext cx="36576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2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SVM — LinearSVC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2011680"/>
            <a:ext cx="3657600" cy="4617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59" y="2194560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21031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Séparateur à vaste marge dans l'espace PCA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2624327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532887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LinearSVC choisi pour sa rapidité (O(n) vs O(n³))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3054095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2962655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20 composantes principales en entrée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483863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392423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Calibré pour fournir des probabilités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744" y="1463040"/>
            <a:ext cx="3657600" cy="5486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2011680"/>
            <a:ext cx="3657600" cy="46177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39912" y="2194560"/>
            <a:ext cx="91440" cy="91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0224" y="21031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Construction séquentielle d'arbres corrective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9912" y="2624327"/>
            <a:ext cx="91440" cy="91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2532887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Chaque arbre corrige les erreurs du précédent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9912" y="3054095"/>
            <a:ext cx="91440" cy="91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0224" y="2962655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Profondeur 3 · taux d'apprentissage 0.1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9912" y="3483863"/>
            <a:ext cx="91440" cy="91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0224" y="3392423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Utilise les 8 features sélectionnées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Résultats — Comparaison des Modèles</a:t>
            </a:r>
          </a:p>
        </p:txBody>
      </p:sp>
      <p:pic>
        <p:nvPicPr>
          <p:cNvPr id="5" name="Picture 4" descr="img_06_cell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8A"/>
                </a:solidFill>
              </a:rPr>
              <a:t>Accuracy · Précision · Rappel · Score F1 (pondéré) — évaluation sur l'ensemble de test (20 000 exemples)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417320"/>
            <a:ext cx="35204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500"/>
                </a:solidFill>
              </a:rPr>
              <a:t>Modèle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14447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500"/>
                </a:solidFill>
              </a:rPr>
              <a:t>Acc.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1444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A500"/>
                </a:solidFill>
              </a:rPr>
              <a:t>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352044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1965960"/>
            <a:ext cx="164592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0574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Forêt Aléatoire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057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76.6%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20574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76.6%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532888"/>
            <a:ext cx="3520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532888"/>
            <a:ext cx="164592" cy="5303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62432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6243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</a:rPr>
              <a:t>68.5%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2624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</a:rPr>
              <a:t>68.7%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099815"/>
            <a:ext cx="3520440" cy="53035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3099815"/>
            <a:ext cx="164592" cy="5303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19125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C45"/>
                </a:solidFill>
              </a:rPr>
              <a:t>SVM (LinearSVC)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1912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53.2%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319125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52.9%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749039"/>
            <a:ext cx="35204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77647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MEILLEUR MODÈLE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06908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Forêt Aléatoire  —  F1 = 76.6%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8A"/>
                </a:solidFill>
              </a:rPr>
              <a:t>Validation croisée (k=5) : RF atteint F1=82.4% · stabilité ±0.003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Matrices de Confusion</a:t>
            </a:r>
          </a:p>
        </p:txBody>
      </p:sp>
      <p:pic>
        <p:nvPicPr>
          <p:cNvPr id="5" name="Picture 4" descr="img_07_cell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65960"/>
            <a:ext cx="1161288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8A"/>
                </a:solidFill>
              </a:rPr>
              <a:t>La diagonale = bonnes prédictions. La Forêt Aléatoire prédit correctement 8 213 'Standard', 4 528 'Poor' et 2 577 'Good'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109728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La matrice de confusion montre pour chaque classe : combien d'exemples ont été bien ou mal classifiés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109728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La Forêt Aléatoire confond peu 'Good' et 'Poor' — erreurs principalement entre classes adjacentes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40864"/>
            <a:ext cx="109728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942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Le SVM génère davantage d'erreurs croisées (moins bonne séparabilité dans l'espace PCA)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Application Web — Streamlit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365760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813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</a:rPr>
              <a:t>Onglet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813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Saisie manuelle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38528"/>
            <a:ext cx="3657600" cy="4709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7" y="2121408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L'utilisateur entre les infos du client (âge, salaire, dettes…)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596896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0545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Les 3 modèles prédisent chacun un score en temps réel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072384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8094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Un vote majoritaire donne la décision finale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547872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564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Couleurs : vert (Good) · orange (Poor) · rouge (Standard)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463040"/>
            <a:ext cx="365760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4813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</a:rPr>
              <a:t>Onglet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14813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Import CSV en masse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1938528"/>
            <a:ext cx="3657600" cy="4709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2121408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0299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Téléversement d'un fichier CSV avec N clients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2596896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250545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Prédictions en batch pour tous les clients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072384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98094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Export des résultats enrichis en 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744" y="1463040"/>
            <a:ext cx="365760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8744" y="14813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</a:rPr>
              <a:t>Onglet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4" y="14813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Tableau de bord des métriques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1938528"/>
            <a:ext cx="3657600" cy="47091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39912" y="2121408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202996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Accuracy, Précision, Rappel, F1 et CV-F1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9912" y="2596896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2505456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Graphique comparatif des 3 modèles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9912" y="3072384"/>
            <a:ext cx="91440" cy="914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0224" y="2980944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C45"/>
                </a:solidFill>
              </a:rPr>
              <a:t>Identification automatique du meilleur modèle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486400"/>
            <a:ext cx="11548872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486400"/>
            <a:ext cx="201168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532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22C45"/>
                </a:solidFill>
              </a:rPr>
              <a:t>Tous les modèles sont sérialisés (.pkl) — l'application charge le pipeline complet sans ré-entraînement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124712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5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Pipeline complet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470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8D4E8"/>
                </a:solidFill>
              </a:rPr>
              <a:t>Nettoyage → encodage → imputation → normalisation → SMOTE → réduction →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5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3 modèles évalués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900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8D4E8"/>
                </a:solidFill>
              </a:rPr>
              <a:t>Forêt Aléatoire (F1=76.6%) · Gradient Boosting (68.7%) · SVM (52.9%)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457200" cy="4572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5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49039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Données déséquilibrées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33087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8D4E8"/>
                </a:solidFill>
              </a:rPr>
              <a:t>SMOTE a permis de traiter le déséquilibre sans biaiser l'évaluation sur le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194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5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920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Déploiement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760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8D4E8"/>
                </a:solidFill>
              </a:rPr>
              <a:t>Interface Streamlit opérationnelle pour des prédictions individuelles et en masse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89320"/>
            <a:ext cx="11247120" cy="594360"/>
          </a:xfrm>
          <a:prstGeom prst="rect">
            <a:avLst/>
          </a:prstGeom>
          <a:solidFill>
            <a:srgbClr val="0D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1675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A500"/>
                </a:solidFill>
              </a:rPr>
              <a:t>Merci pour votre attention  — 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